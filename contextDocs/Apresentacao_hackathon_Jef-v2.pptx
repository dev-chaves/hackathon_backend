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LLa6gLO0RhsBFJbqj6xu0+40w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do bloco. Jeferson, Dia 1, 18:10. Fio condutor da noite: a peça defeituosa descoberta tarde demais.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peça custa R$ 40 pra produzir. Pega na primeira estação: R$ 40 no lixo. No fim da linha: R$ 400 (mão de obra, energia, máquina ocupada). No cliente: R$ 4.000 (devolução, frete, contrato em risco). Fecho: todo mundo aqui de Contábeis e Administração já sabe fazer a coisa mais valiosa deste hackathon: essa conta. (O 10x é regra de bolso da indústria, não estatística.)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isso meu bloco não é uma aula, é um manual de sobrevivência. Tudo que eu mostrar existe impresso no kit que estará na mesa de vocês amanhã.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Guardem a 5.1 e a 5.2. Elas significam que um grupo de Contábeis e Administração consegue, sim, colocar um protótipo de pé, e daqui a pouco eu mostro com o quê. (Alivia a ansiedade técnica agora, antes de qualquer método.)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Micro-interação: levanta a mão quem já preencheu um Canvas na faculdade (calibra o quanto detalhar o bloco de BMC).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Vocês não precisam preencher 14 folhas. Precisam de 5. O resto é apoio. Cada folha diz, no rodapé, qual é a próxima.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Território permitido: o desafio de amanhã vem da escuta da indústria daqui (Cluster, MetalSul, pesquisa com fábricas de Barra Mansa). Pensem em dores de chão de fábrica: qualidade, energia, manutenção, rastreio, documentação.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MICRO-INTERAÇÃO: quem aqui trabalha ou já trabalhou em indústria, ou tem parente que trabalha? Levanta a mão. Olhem ao redor: essas mãos são as melhores fontes de entrevista de amanhã. A escada de fontes: 1) pessoa real (do grupo, contato, ou a fonte do desafio se estiver na sala), 2) mentor simulando, 3) a IA de madrugada. O que sai da IA é hipótese: na Matriz CSD entra em Suposições, e na sexta validem com mentor e com o material real que a fonte do desafio fornecer.</a:t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“por quê” desce um nível até a causa raiz, e é ela que vira a proposta de valor.</a:t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Reparem: a Dúvida vira pergunta de entrevista, a Suposição vira o que o protótipo testa.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Onze grupos vão dizer “melhora a eficiência”. O grupo que disser “economiza R$ 62 mil por ano” ganha a banca. Montar essa conta é o superpoder de quem estuda Contábeis e Administração.</a:t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razões, na mesma lógica do slide dos mentores.</a:t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Comecem pelo coração: proposta de valor + segmento. Depois como chega e como se relaciona. Depois o que precisa existir. Dinheiro por último.</a:t>
            </a:r>
            <a:endParaRPr/>
          </a:p>
        </p:txBody>
      </p:sp>
      <p:sp>
        <p:nvSpPr>
          <p:cNvPr id="304" name="Google Shape;3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1 de 3: o mesmo caso da peça defeituosa. Primeiro o coração: proposta de valor e segmento.</a:t>
            </a:r>
            <a:endParaRPr/>
          </a:p>
        </p:txBody>
      </p:sp>
      <p:sp>
        <p:nvSpPr>
          <p:cNvPr id="352" name="Google Shape;35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2 de 3: como a solução chega ao cliente e como a relação começa.</a:t>
            </a:r>
            <a:endParaRPr/>
          </a:p>
        </p:txBody>
      </p:sp>
      <p:sp>
        <p:nvSpPr>
          <p:cNvPr id="382" name="Google Shape;3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3 de 3, o motor: o que entra, o que sai e quem ajuda. Ponte com o critério: proposta de valor amarrada na dor = Aderência ao Desafio (mais 25%).</a:t>
            </a:r>
            <a:endParaRPr/>
          </a:p>
        </p:txBody>
      </p:sp>
      <p:sp>
        <p:nvSpPr>
          <p:cNvPr id="414" name="Google Shape;41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Ponte com o critério: proposta de valor amarrada na dor = Aderência ao Desafio (mais 25% da nota).</a:t>
            </a:r>
            <a:endParaRPr/>
          </a:p>
        </p:txBody>
      </p:sp>
      <p:sp>
        <p:nvSpPr>
          <p:cNvPr id="450" name="Google Shape;4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Fecho: isso que vocês fizeram em 8 minutos é o esqueleto do BMC. Amanhã, com o grupo real e o desafio real, vocês fazem a versão completa na folha do kit.</a:t>
            </a:r>
            <a:endParaRPr/>
          </a:p>
        </p:txBody>
      </p:sp>
      <p:sp>
        <p:nvSpPr>
          <p:cNvPr id="474" name="Google Shape;47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definição que importa. Não é o produto pequeno; é o TESTE da hipótese, ao vivo, no sábado.</a:t>
            </a:r>
            <a:endParaRPr/>
          </a:p>
        </p:txBody>
      </p:sp>
      <p:sp>
        <p:nvSpPr>
          <p:cNvPr id="501" name="Google Shape;50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coluna mais importante é a da DIREITA. O que mata grupo de hackathon não é fazer pouco, é tentar fazer tudo. Sábado 15h, quem não cortou escopo está desesperado; quem cortou está ensaiando o pitch.</a:t>
            </a:r>
            <a:endParaRPr/>
          </a:p>
        </p:txBody>
      </p:sp>
      <p:sp>
        <p:nvSpPr>
          <p:cNvPr id="512" name="Google Shape;5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Micro-interação: quem aqui já virou noite fazendo trabalho de faculdade em grupo onde só um fez? O Checklist do kit tem coluna de RESPONSÁVEL: usem.</a:t>
            </a:r>
            <a:endParaRPr/>
          </a:p>
        </p:txBody>
      </p:sp>
      <p:sp>
        <p:nvSpPr>
          <p:cNvPr id="534" name="Google Shape;53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Construir é o bloco do Matheus, às 21:10, e eu não vou tomar o assunto dele.</a:t>
            </a:r>
            <a:endParaRPr/>
          </a:p>
        </p:txBody>
      </p:sp>
      <p:sp>
        <p:nvSpPr>
          <p:cNvPr id="562" name="Google Shape;56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regra 5.4 vale pra mentor E pra IA: a solução tem que ser de VOCÊS.</a:t>
            </a:r>
            <a:endParaRPr/>
          </a:p>
        </p:txBody>
      </p:sp>
      <p:sp>
        <p:nvSpPr>
          <p:cNvPr id="584" name="Google Shape;5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Pendência minha antes das 18h: montar o PDF de 1 a 3 páginas e combinar com o Willian o envio no grupo.</a:t>
            </a:r>
            <a:endParaRPr/>
          </a:p>
        </p:txBody>
      </p:sp>
      <p:sp>
        <p:nvSpPr>
          <p:cNvPr id="603" name="Google Shape;60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 em 5 linhas: o contrato da noite.</a:t>
            </a:r>
            <a:endParaRPr/>
          </a:p>
        </p:txBody>
      </p:sp>
      <p:sp>
        <p:nvSpPr>
          <p:cNvPr id="629" name="Google Shape;62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Reforçar a escada: pessoa real primeiro, IA por último. Se alguém do Cluster ou da MetalSul estiver na sala amanhã, é a fonte número 1 (confirmar com Willian antes). Handoff: vocês agora sabem ACHAR a dor, dar PREÇO a ela e desenhar o negócio em volta. Daqui a 10 minutos, o Gabriel ensina a parte que decide prêmio: como CONTAR essa história em 5 minutos de palco. Intervalo, água, e volta 20:10.</a:t>
            </a:r>
            <a:endParaRPr/>
          </a:p>
        </p:txBody>
      </p:sp>
      <p:sp>
        <p:nvSpPr>
          <p:cNvPr id="655" name="Google Shape;65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188720" y="-1371600"/>
            <a:ext cx="3108960" cy="3108960"/>
          </a:xfrm>
          <a:prstGeom prst="ellipse">
            <a:avLst/>
          </a:prstGeom>
          <a:solidFill>
            <a:srgbClr val="7C3AED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98480" y="5394960"/>
            <a:ext cx="2468880" cy="2468880"/>
          </a:xfrm>
          <a:prstGeom prst="ellipse">
            <a:avLst/>
          </a:prstGeom>
          <a:solidFill>
            <a:srgbClr val="EC489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064240" y="-457200"/>
            <a:ext cx="1097280" cy="1097280"/>
          </a:xfrm>
          <a:prstGeom prst="ellipse">
            <a:avLst/>
          </a:prstGeom>
          <a:solidFill>
            <a:srgbClr val="FB923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2148840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HACKATHON DE INOVAÇÃO  ·  BARRA MANSA / RJ  ·  DIA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514600"/>
            <a:ext cx="108173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Jornada de um Negócio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6118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da dor ao MVP em 19 horas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800" y="43434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Jeferson Carvalho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659185" y="214400"/>
            <a:ext cx="2665200" cy="15828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 b="21759" l="21279" r="16702" t="16880"/>
          <a:stretch/>
        </p:blipFill>
        <p:spPr>
          <a:xfrm>
            <a:off x="8833567" y="459479"/>
            <a:ext cx="1958086" cy="1092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-1188720" y="-1371600"/>
            <a:ext cx="3108960" cy="3108960"/>
          </a:xfrm>
          <a:prstGeom prst="ellipse">
            <a:avLst/>
          </a:prstGeom>
          <a:solidFill>
            <a:srgbClr val="7C3AED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698480" y="5394960"/>
            <a:ext cx="2468880" cy="2468880"/>
          </a:xfrm>
          <a:prstGeom prst="ellipse">
            <a:avLst/>
          </a:prstGeom>
          <a:solidFill>
            <a:srgbClr val="EC489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1064240" y="-457200"/>
            <a:ext cx="1097280" cy="1097280"/>
          </a:xfrm>
          <a:prstGeom prst="ellipse">
            <a:avLst/>
          </a:prstGeom>
          <a:solidFill>
            <a:srgbClr val="FB923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685800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 MESMA DOR, TRÊS PREÇOS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2331720"/>
            <a:ext cx="3401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R$ 40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3611880"/>
            <a:ext cx="3401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pega na estação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0" y="251460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79976" y="2331720"/>
            <a:ext cx="3401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R$ 400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79976" y="3611880"/>
            <a:ext cx="3401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pega no fim da linha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808976" y="251460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074152" y="2331720"/>
            <a:ext cx="34015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R$ 4.000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74152" y="3611880"/>
            <a:ext cx="3401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chega no 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4480560" y="4709160"/>
            <a:ext cx="3227832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685800" y="498348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muda o preço não é o defeito, é QUANDO você o encontra.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O JOGO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19 horas, não 3 noites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85800" y="1965960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14400" y="2130552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Hoje, 22h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14400" y="2514600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vocês saem daqui com método e ferramentas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384548" y="1965960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613148" y="2130552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Sexta, 18:15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613148" y="2514600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desafio revelado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083296" y="1965960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311896" y="2130552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Sexta, 19:00–20:30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311896" y="2514600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únicos 90 min de mesa COM mentor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" y="3767328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914400" y="3931920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Sexta 22h → Sáb 17h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14400" y="4315968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hackathon de verdade: vocês, sozinhos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384548" y="3767328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613148" y="3931920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Sábado, 17h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613148" y="4315968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pitch enviado por e-mail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83296" y="3767328"/>
            <a:ext cx="3419856" cy="1481328"/>
          </a:xfrm>
          <a:prstGeom prst="roundRect">
            <a:avLst>
              <a:gd fmla="val 555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311896" y="3931920"/>
            <a:ext cx="29626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Sábado, 19:10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311896" y="4315968"/>
            <a:ext cx="29626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palco: demo ao vivo, 5 minutos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hackathon não acontece neste salão: acontece na madrugada de sexta pra sábado.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REGRAS DO EDITAL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As regras do jogo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85800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60120" y="2258568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60120" y="2926080"/>
            <a:ext cx="28712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Usar IA do início ao fim.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120" y="3703320"/>
            <a:ext cx="28712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Código, pesquisa, texto, pitch. Não é trapaça, é a regra do jogo.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60120" y="4846320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edital 5.1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384548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658868" y="2258568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PODE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658868" y="2926080"/>
            <a:ext cx="28712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Trazer coisa pronta.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58868" y="3703320"/>
            <a:ext cx="28712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Template, biblioteca, código antigo. Só precisa DECLARAR no pitch.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58868" y="4846320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edital 5.2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083296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357616" y="2258568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TEM 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357616" y="2926080"/>
            <a:ext cx="28712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Demonstrar ao vivo.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357616" y="3703320"/>
            <a:ext cx="28712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Protótipo funcionando, versão mínima serve. Slide conceitual não é entrega.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357616" y="4846320"/>
            <a:ext cx="2871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edital 5.3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85800" y="562356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As duas permissões são o que quase ninguém sabe que tem, e mudam tudo pra quem não programa.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 jornada em 4 fases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5800" y="2286000"/>
            <a:ext cx="2395728" cy="2286000"/>
          </a:xfrm>
          <a:prstGeom prst="roundRect">
            <a:avLst>
              <a:gd fmla="val 36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41832" y="2560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941832" y="25466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41832" y="315468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41832" y="356616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achar a dor certa e dar preço a 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099816" y="315468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493008" y="2286000"/>
            <a:ext cx="2395728" cy="2286000"/>
          </a:xfrm>
          <a:prstGeom prst="roundRect">
            <a:avLst>
              <a:gd fmla="val 360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749040" y="256032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749040" y="25466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749040" y="315468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749040" y="356616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testar certezas, suposições e dúvidas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907024" y="315468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300216" y="2286000"/>
            <a:ext cx="2395728" cy="2286000"/>
          </a:xfrm>
          <a:prstGeom prst="roundRect">
            <a:avLst>
              <a:gd fmla="val 36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556248" y="256032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556248" y="25466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556248" y="315468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556248" y="356616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menor versão que prova a ideia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714232" y="3154680"/>
            <a:ext cx="3840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107424" y="2286000"/>
            <a:ext cx="2395728" cy="2286000"/>
          </a:xfrm>
          <a:prstGeom prst="roundRect">
            <a:avLst>
              <a:gd fmla="val 360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9363456" y="2560320"/>
            <a:ext cx="384048" cy="384048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363456" y="25466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363456" y="315468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Pitch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363456" y="356616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contar a história em 5 minutos (com o Gabriel, 20:10)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85800" y="507492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Mesma sequência da metodologia do evento, a mesma das 4 seções do kit impresso.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O kit na mesa: 14 folhas, só 5 obrigatórias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 ESPINHA: O QUE EU ENSINO HOJE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85800" y="1920240"/>
            <a:ext cx="6766560" cy="603504"/>
          </a:xfrm>
          <a:prstGeom prst="roundRect">
            <a:avLst>
              <a:gd fmla="val 1060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832104" y="2039112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32104" y="20253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344168" y="1956816"/>
            <a:ext cx="5943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5 Porquês</a:t>
            </a:r>
            <a:r>
              <a:rPr b="0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da dor à causa raiz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85800" y="2633472"/>
            <a:ext cx="6766560" cy="603504"/>
          </a:xfrm>
          <a:prstGeom prst="roundRect">
            <a:avLst>
              <a:gd fmla="val 1060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32104" y="2752344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32104" y="27386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344168" y="2670048"/>
            <a:ext cx="5943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Matriz CSD</a:t>
            </a:r>
            <a:r>
              <a:rPr b="0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certezas, suposições, dúvidas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85800" y="3346704"/>
            <a:ext cx="6766560" cy="603504"/>
          </a:xfrm>
          <a:prstGeom prst="roundRect">
            <a:avLst>
              <a:gd fmla="val 1060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32104" y="3465576"/>
            <a:ext cx="365760" cy="3657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32104" y="34518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344168" y="3383280"/>
            <a:ext cx="5943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r>
              <a:rPr b="0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o negócio em uma folha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85800" y="4059936"/>
            <a:ext cx="6766560" cy="603504"/>
          </a:xfrm>
          <a:prstGeom prst="roundRect">
            <a:avLst>
              <a:gd fmla="val 1060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32104" y="4178808"/>
            <a:ext cx="365760" cy="36576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32104" y="41650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344168" y="4096512"/>
            <a:ext cx="5943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Canvas de MVP</a:t>
            </a:r>
            <a:r>
              <a:rPr b="0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o que entra e o que fica de fora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5800" y="4773168"/>
            <a:ext cx="6766560" cy="603504"/>
          </a:xfrm>
          <a:prstGeom prst="roundRect">
            <a:avLst>
              <a:gd fmla="val 1060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32104" y="48920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32104" y="48783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344168" y="4809744"/>
            <a:ext cx="5943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Checklist de Funcionalidades</a:t>
            </a:r>
            <a:r>
              <a:rPr b="0" i="0" lang="en-US" sz="14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quem faz o quê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818120" y="1508760"/>
            <a:ext cx="3685032" cy="3913632"/>
          </a:xfrm>
          <a:prstGeom prst="roundRect">
            <a:avLst>
              <a:gd fmla="val 2233" name="adj"/>
            </a:avLst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8092440" y="181051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AS OUTRAS 9 FOLHAS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092440" y="217627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são consulta. Cada uma traz impresso: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183880" y="260604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Pra que serve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CF5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Como preencher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8CCF5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Conecta com 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092440" y="406908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Perdidos às 2h da manhã? Olhem o “Conecta com” da última folha. O kit é um GPS.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Achar a dor certa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85800" y="2011680"/>
            <a:ext cx="5257800" cy="3108960"/>
          </a:xfrm>
          <a:prstGeom prst="roundRect">
            <a:avLst>
              <a:gd fmla="val 2647" name="adj"/>
            </a:avLst>
          </a:prstGeom>
          <a:solidFill>
            <a:srgbClr val="FB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005840" y="22860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4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4443C"/>
                </a:solidFill>
                <a:latin typeface="Arial"/>
                <a:ea typeface="Arial"/>
                <a:cs typeface="Arial"/>
                <a:sym typeface="Arial"/>
              </a:rPr>
              <a:t>✗  O ERRO CLÁSSICO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05840" y="27889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“Como podemos criar um app?”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05840" y="393192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Começa pela solução: qualquer resposta serve e nenhuma resolve.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245352" y="2011680"/>
            <a:ext cx="5257800" cy="3108960"/>
          </a:xfrm>
          <a:prstGeom prst="roundRect">
            <a:avLst>
              <a:gd fmla="val 2647" name="adj"/>
            </a:avLst>
          </a:prstGeom>
          <a:solidFill>
            <a:srgbClr val="E8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565392" y="22860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✓  A PERGUNTA CERTA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565392" y="2788920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“Como podemos reduzir o custo do defeito tardio?”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565392" y="393192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Começa pela dor, e é o exemplo impresso na folha HMW do kit.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Nunca pisou numa fábrica? Entreviste uma.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85800" y="1627632"/>
            <a:ext cx="108173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faz o papel de quem vive a dor. Prompt pronto, copia e cola: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5800" y="2057400"/>
            <a:ext cx="6720840" cy="3017520"/>
          </a:xfrm>
          <a:prstGeom prst="roundRect">
            <a:avLst>
              <a:gd fmla="val 2727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978408" y="22860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6A1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96A14"/>
                </a:solidFill>
                <a:latin typeface="Arial"/>
                <a:ea typeface="Arial"/>
                <a:cs typeface="Arial"/>
                <a:sym typeface="Arial"/>
              </a:rPr>
              <a:t>PROMPT DA PERSONA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78408" y="2651760"/>
            <a:ext cx="6126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“Você é operador de manutenção numa metalúrgica de médio porte do Sul Fluminense, com 15 anos de chão de fábrica. Fale como ele: direto, com exemplos do dia a dia. Vou te entrevistar sobre os problemas do seu turno. Não invente número exato: quando não souber, dê uma faixa e avise que é estimativa.”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635240" y="2103120"/>
            <a:ext cx="3886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Pessoa real vence a simulada: colega de fábrica ou parente de alguém do grupo é a fonte número 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é o plano B de madrugada. Rodem nela o Roteiro de Entrevista do kit (perguntas 1 a 5).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Troquem a persona conforme o desafio: gestor de qualidade, comprador, PCP, engenheiro de processo.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Travou na conta da dor? Pergunte quanto custa.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85800" y="5349240"/>
            <a:ext cx="10817352" cy="731520"/>
          </a:xfrm>
          <a:prstGeom prst="roundRect">
            <a:avLst>
              <a:gd fmla="val 100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960120" y="5349240"/>
            <a:ext cx="102687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Entrevista simulada gera HIPÓTESE, não certeza: na Matriz CSD isso entra em Suposições. Certeza só com dado real ou fala de quem vive o problema.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5 Porquês na prática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85800" y="1828800"/>
            <a:ext cx="10817352" cy="557784"/>
          </a:xfrm>
          <a:prstGeom prst="roundRect">
            <a:avLst>
              <a:gd fmla="val 9836" name="adj"/>
            </a:avLst>
          </a:prstGeom>
          <a:solidFill>
            <a:srgbClr val="E8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941832" y="1847088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606040" y="1847088"/>
            <a:ext cx="862279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Peças defeituosas chegando ao fim da linha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033272" y="2496312"/>
            <a:ext cx="10469880" cy="557784"/>
          </a:xfrm>
          <a:prstGeom prst="roundRect">
            <a:avLst>
              <a:gd fmla="val 983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289304" y="2514600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POR QUÊ?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953512" y="2514600"/>
            <a:ext cx="82753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inspeção é só no fim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380744" y="3163824"/>
            <a:ext cx="10122408" cy="557784"/>
          </a:xfrm>
          <a:prstGeom prst="roundRect">
            <a:avLst>
              <a:gd fmla="val 983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636776" y="3182112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POR QUÊ?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3300984" y="3182112"/>
            <a:ext cx="792784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Inspecionar no meio para a linha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728216" y="3831336"/>
            <a:ext cx="9774936" cy="557784"/>
          </a:xfrm>
          <a:prstGeom prst="roundRect">
            <a:avLst>
              <a:gd fmla="val 983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984248" y="3849624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POR QUÊ?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648456" y="3849624"/>
            <a:ext cx="7580376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inspeção é manual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075688" y="4498848"/>
            <a:ext cx="9427464" cy="557784"/>
          </a:xfrm>
          <a:prstGeom prst="roundRect">
            <a:avLst>
              <a:gd fmla="val 983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2331720" y="4517136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POR QUÊ?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995928" y="4517136"/>
            <a:ext cx="7232904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Ninguém confia em automação barata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423160" y="5166360"/>
            <a:ext cx="9079992" cy="557784"/>
          </a:xfrm>
          <a:prstGeom prst="roundRect">
            <a:avLst>
              <a:gd fmla="val 9836" name="adj"/>
            </a:avLst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679192" y="5184648"/>
            <a:ext cx="16002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CAUSA RAIZ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343400" y="5184648"/>
            <a:ext cx="6885432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detecção rápida e barata NO processo, não depois dele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IDEAÇÃO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Matriz CSD do mesmo caso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85800" y="1965960"/>
            <a:ext cx="3419856" cy="3200400"/>
          </a:xfrm>
          <a:prstGeom prst="roundRect">
            <a:avLst>
              <a:gd fmla="val 2571" name="adj"/>
            </a:avLst>
          </a:prstGeom>
          <a:solidFill>
            <a:srgbClr val="E8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960120" y="2240280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CERTEZA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960120" y="274320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“Defeito tardio custa 10x mais”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60120" y="42976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que sabemos e conseguimos sustentar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84548" y="1965960"/>
            <a:ext cx="3419856" cy="3200400"/>
          </a:xfrm>
          <a:prstGeom prst="roundRect">
            <a:avLst>
              <a:gd fmla="val 2571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658868" y="2240280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SUPOSIÇÃO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658868" y="274320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“O operador aceitaria um alerta no celular”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658868" y="42976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vira o que o protótipo testa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083296" y="1965960"/>
            <a:ext cx="3419856" cy="3200400"/>
          </a:xfrm>
          <a:prstGeom prst="roundRect">
            <a:avLst>
              <a:gd fmla="val 2571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357616" y="2240280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6A14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6A14"/>
                </a:solidFill>
                <a:latin typeface="Arial"/>
                <a:ea typeface="Arial"/>
                <a:cs typeface="Arial"/>
                <a:sym typeface="Arial"/>
              </a:rPr>
              <a:t>DÚVIDA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357616" y="274320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“Quantos defeitos por turno passam hoje?”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8357616" y="42976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vira pergunta de entrevista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85800" y="557784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É assim que as folhas conversam: a Dúvida vira entrevista, a Suposição vira protótipo.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5B21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10789920" y="5303520"/>
            <a:ext cx="2377440" cy="2377440"/>
          </a:xfrm>
          <a:prstGeom prst="ellipse">
            <a:avLst/>
          </a:prstGeom>
          <a:solidFill>
            <a:srgbClr val="EC4899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DINÂMICA 1  ·  EM DUPLAS  ·  10 MIN  ·  CRONÔMETRO NO TELÃO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conta da dor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85800" y="2148840"/>
            <a:ext cx="1143000" cy="47548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85800" y="2139696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148840" y="2039112"/>
            <a:ext cx="93543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Escolham UMA dor industrial: defeito tardio, energia fora de faixa, máquina parada, papel perdido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85800" y="3108960"/>
            <a:ext cx="1143000" cy="47548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85800" y="3099816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4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148840" y="2999232"/>
            <a:ext cx="93543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Montem a conta: quanto custa por MÊS? Frequência × custo unitário × horas × salário (chutem números plausíveis)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85800" y="4069080"/>
            <a:ext cx="1143000" cy="47548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85800" y="4059936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148840" y="3959352"/>
            <a:ext cx="93543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duplas no microfone, em 1 frase: “[dor] custa R$ [X] por mês porque [conta]”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85800" y="5532120"/>
            <a:ext cx="108173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EFF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F3EEFF"/>
                </a:solidFill>
                <a:latin typeface="Arial"/>
                <a:ea typeface="Arial"/>
                <a:cs typeface="Arial"/>
                <a:sym typeface="Arial"/>
              </a:rPr>
              <a:t>Essa frase vale 25% da nota: o critério Potencial de Impacto.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Por que usar o Business Model Canvas?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685800" y="21351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463040" y="20574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Visão de ponta a ponta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669280" y="2057400"/>
            <a:ext cx="58338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negócio inteiro em uma folha: da dor do cliente ao dinheiro que entra.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2"/>
          <p:cNvCxnSpPr/>
          <p:nvPr/>
        </p:nvCxnSpPr>
        <p:spPr>
          <a:xfrm>
            <a:off x="685800" y="3035808"/>
            <a:ext cx="10817352" cy="0"/>
          </a:xfrm>
          <a:prstGeom prst="straightConnector1">
            <a:avLst/>
          </a:prstGeom>
          <a:noFill/>
          <a:ln cap="flat" cmpd="sng" w="12700">
            <a:solidFill>
              <a:srgbClr val="E8DE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2"/>
          <p:cNvSpPr/>
          <p:nvPr/>
        </p:nvSpPr>
        <p:spPr>
          <a:xfrm>
            <a:off x="685800" y="338328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85800" y="33695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463040" y="329184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Debate no mesmo mapa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669280" y="3291840"/>
            <a:ext cx="58338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grupo inteiro discute sobre a mesma folha, não sobre 8 opiniões soltas.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2"/>
          <p:cNvCxnSpPr/>
          <p:nvPr/>
        </p:nvCxnSpPr>
        <p:spPr>
          <a:xfrm>
            <a:off x="685800" y="4270248"/>
            <a:ext cx="10817352" cy="0"/>
          </a:xfrm>
          <a:prstGeom prst="straightConnector1">
            <a:avLst/>
          </a:prstGeom>
          <a:noFill/>
          <a:ln cap="flat" cmpd="sng" w="12700">
            <a:solidFill>
              <a:srgbClr val="E8DE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2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85800" y="46040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63040" y="452628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Revela lacunas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669280" y="4526280"/>
            <a:ext cx="58338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Bloco vazio é um aviso: algo do negócio ainda não foi pensado.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 ordem de preenchimento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8580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83210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Parcerias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32104" y="2185416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832104" y="217627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292608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307238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3072384" y="2185416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072384" y="217627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92608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07238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072384" y="3813048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3072384" y="380390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16636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31266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Proposta de Valor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312664" y="2185416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312664" y="217627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1º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312664" y="2569464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coração do Canvas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40664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755294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7552944" y="2185416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7552944" y="217627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40664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755294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552944" y="3813048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7552944" y="380390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964692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979322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Segmento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793224" y="2185416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9793224" y="217627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1º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9793224" y="2569464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pra quem dói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85800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832104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832104" y="5440680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832104" y="54315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158484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6304788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304788" y="5440680"/>
            <a:ext cx="566928" cy="310896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304788" y="54315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  ·  PASSO 1 DE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O Canvas do caso: o coração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68580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83210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Parcerias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92608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307238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92608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307238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516636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31266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Proposta de Valor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31266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“Detectar o defeito na estação, não no fim da linha”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740664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755294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40664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55294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64692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979322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Segmento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979322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Gestor de qualidade de metalúrgica média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85800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832104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158484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304788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  ·  PASSO 2 DE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O Canvas do caso: como chega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8580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3210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Parcerias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292608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07238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292608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307238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16636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531266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Proposta de Valor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31266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“Detectar o defeito na estação, não no fim da linha”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740664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55294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7552944" y="2203704"/>
            <a:ext cx="1819656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Piloto de 90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40664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755294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7552944" y="3831336"/>
            <a:ext cx="1819656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Venda direta via sindicato patronal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964692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979322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Segmento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979322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Gestor de qualidade de metalúrgica média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685800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832104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6158484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6304788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  ·  PASSO 3 DE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O Canvas do caso: o motor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68580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83210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Parcerias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83210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 própria fábrica cede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292608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307238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Atividades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292608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307238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3072384" y="3831336"/>
            <a:ext cx="1819656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Câmera + software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16636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531266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Proposta de Valor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531266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“Detectar o defeito na estação, não no fim da linha”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7406640" y="1783080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755294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7552944" y="2203704"/>
            <a:ext cx="1819656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Piloto de 90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7406640" y="3410712"/>
            <a:ext cx="2112264" cy="1499616"/>
          </a:xfrm>
          <a:prstGeom prst="roundRect">
            <a:avLst>
              <a:gd fmla="val 3659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7552944" y="3502152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Canais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7552944" y="3831336"/>
            <a:ext cx="1819656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Venda direta via sindicato patronal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9646920" y="1783080"/>
            <a:ext cx="2112264" cy="3127248"/>
          </a:xfrm>
          <a:prstGeom prst="roundRect">
            <a:avLst>
              <a:gd fmla="val 2597" name="adj"/>
            </a:avLst>
          </a:prstGeom>
          <a:solidFill>
            <a:srgbClr val="FFF1E6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9793224" y="187452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Segmento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9793224" y="2203704"/>
            <a:ext cx="1819656" cy="2596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Gestor de qualidade de metalúrgica média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685800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32104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832104" y="5458968"/>
            <a:ext cx="50520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Câmera + software + tempo do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158484" y="5038344"/>
            <a:ext cx="5344668" cy="1051560"/>
          </a:xfrm>
          <a:prstGeom prst="roundRect">
            <a:avLst>
              <a:gd fmla="val 5217" name="adj"/>
            </a:avLst>
          </a:prstGeom>
          <a:solidFill>
            <a:srgbClr val="F3EEFF"/>
          </a:solidFill>
          <a:ln cap="flat" cmpd="sng" w="158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6304788" y="5129784"/>
            <a:ext cx="50520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6304788" y="5458968"/>
            <a:ext cx="50520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Assinatura mensal por linha monitorada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MODELAGEM DE NEGÓCIO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Armadilhas do Canvas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685800" y="2075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685800" y="20619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1463040" y="1965960"/>
            <a:ext cx="100401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Canvas é DISCUSSÃO, não formulário.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85800" y="2916936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685800" y="29032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1463040" y="2807208"/>
            <a:ext cx="100401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Preencham em pé, com post-it, brigando.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85800" y="3758184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685800" y="37444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1463040" y="3648456"/>
            <a:ext cx="100401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Receita pode ser hipótese (“cobraríamos X”): a banca quer ver que vocês pensaram no negócio, não um DRE.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85800" y="4599432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"/>
          <p:cNvSpPr/>
          <p:nvPr/>
        </p:nvSpPr>
        <p:spPr>
          <a:xfrm>
            <a:off x="685800" y="45857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463040" y="4489704"/>
            <a:ext cx="100401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Bloco vazio é um AVISO, não um detalhe.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85800" y="5394960"/>
            <a:ext cx="10817352" cy="640080"/>
          </a:xfrm>
          <a:prstGeom prst="roundRect">
            <a:avLst>
              <a:gd fmla="val 11429" name="adj"/>
            </a:avLst>
          </a:prstGeom>
          <a:solidFill>
            <a:srgbClr val="E8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960120" y="5394960"/>
            <a:ext cx="102687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Proposta de valor amarrada na dor  =  Aderência ao Desafio  (+25% da nota)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5B21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10789920" y="5303520"/>
            <a:ext cx="2377440" cy="2377440"/>
          </a:xfrm>
          <a:prstGeom prst="ellipse">
            <a:avLst/>
          </a:prstGeom>
          <a:solidFill>
            <a:srgbClr val="EC4899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DINÂMICA 2  ·  MESMAS DUPLAS, MESMA DOR  ·  10 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Canvas de guardanapo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85800" y="2011680"/>
            <a:ext cx="502920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18"/>
          <p:cNvCxnSpPr/>
          <p:nvPr/>
        </p:nvCxnSpPr>
        <p:spPr>
          <a:xfrm>
            <a:off x="3200400" y="2194560"/>
            <a:ext cx="0" cy="3200400"/>
          </a:xfrm>
          <a:prstGeom prst="straightConnector1">
            <a:avLst/>
          </a:prstGeom>
          <a:noFill/>
          <a:ln cap="flat" cmpd="sng" w="19050">
            <a:solidFill>
              <a:srgbClr val="E8DE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8"/>
          <p:cNvCxnSpPr/>
          <p:nvPr/>
        </p:nvCxnSpPr>
        <p:spPr>
          <a:xfrm>
            <a:off x="868680" y="3794760"/>
            <a:ext cx="4663440" cy="0"/>
          </a:xfrm>
          <a:prstGeom prst="straightConnector1">
            <a:avLst/>
          </a:prstGeom>
          <a:noFill/>
          <a:ln cap="flat" cmpd="sng" w="19050">
            <a:solidFill>
              <a:srgbClr val="E8DE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18"/>
          <p:cNvSpPr/>
          <p:nvPr/>
        </p:nvSpPr>
        <p:spPr>
          <a:xfrm>
            <a:off x="914400" y="224028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914400" y="22265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914400" y="27432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Pra quem?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3429000" y="224028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3429000" y="22265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3429000" y="27432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O que resolve?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914400" y="40096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914400" y="452628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Como ganha dinheiro?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3429000" y="402336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3429000" y="40096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3429000" y="452628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O que precisa existir?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6400800" y="2103120"/>
            <a:ext cx="510235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Papel em branco, dividido em 4.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quadrante: 2 minutos.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fim, 2 duplas apresentam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 30 segundos cada.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6400800" y="4297680"/>
            <a:ext cx="51023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E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3EEFF"/>
                </a:solidFill>
                <a:latin typeface="Arial"/>
                <a:ea typeface="Arial"/>
                <a:cs typeface="Arial"/>
                <a:sym typeface="Arial"/>
              </a:rPr>
              <a:t>Isso é o esqueleto do BMC. A versão completa, amanhã, leva 40 minutos bem discutidos. Reservem esse tempo na sexta.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5B21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10789920" y="5303520"/>
            <a:ext cx="2377440" cy="2377440"/>
          </a:xfrm>
          <a:prstGeom prst="ellipse">
            <a:avLst/>
          </a:prstGeom>
          <a:solidFill>
            <a:srgbClr val="EC4899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685800" y="2011680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685800" y="2377440"/>
            <a:ext cx="108173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menor coisa que PROVA a ideia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vivo no sábado.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85800" y="411480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1E6"/>
              </a:buClr>
              <a:buSzPts val="1900"/>
              <a:buFont typeface="Arial"/>
              <a:buNone/>
            </a:pPr>
            <a:r>
              <a:rPr b="0" i="1" lang="en-US" sz="1900" u="none" cap="none" strike="noStrike">
                <a:solidFill>
                  <a:srgbClr val="FFF1E6"/>
                </a:solidFill>
                <a:latin typeface="Arial"/>
                <a:ea typeface="Arial"/>
                <a:cs typeface="Arial"/>
                <a:sym typeface="Arial"/>
              </a:rPr>
              <a:t>Não é o produto pequeno, é o teste da hipótese.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Canvas de MVP do caso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685800" y="1920240"/>
            <a:ext cx="5257800" cy="2651760"/>
          </a:xfrm>
          <a:prstGeom prst="roundRect">
            <a:avLst>
              <a:gd fmla="val 3103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978408" y="2148840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ENTRA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069848" y="2606040"/>
            <a:ext cx="4526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Upload de 10 fotos de peça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Classificação OK / defeito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Alerta na tela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6245352" y="1920240"/>
            <a:ext cx="5257800" cy="2651760"/>
          </a:xfrm>
          <a:prstGeom prst="roundRect">
            <a:avLst>
              <a:gd fmla="val 3103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6537960" y="2148840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6A1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96A14"/>
                </a:solidFill>
                <a:latin typeface="Arial"/>
                <a:ea typeface="Arial"/>
                <a:cs typeface="Arial"/>
                <a:sym typeface="Arial"/>
              </a:rPr>
              <a:t>FICA DE FORA (SEM CULPA)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6629400" y="2606040"/>
            <a:ext cx="4526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Integração com ERP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Histórico e dashboard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App mobile e login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685800" y="484632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978408" y="4992624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HIPÓTESE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978408" y="5303520"/>
            <a:ext cx="46725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“Um alerta em segundos evita que a peça avance”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6245352" y="4846320"/>
            <a:ext cx="5257800" cy="1051560"/>
          </a:xfrm>
          <a:prstGeom prst="roundRect">
            <a:avLst>
              <a:gd fmla="val 7826" name="adj"/>
            </a:avLst>
          </a:prstGeom>
          <a:solidFill>
            <a:srgbClr val="3B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6537960" y="4992624"/>
            <a:ext cx="4672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MÉTRICA DO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6537960" y="5303520"/>
            <a:ext cx="46725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banca vê 1 peça defeituosa ser pega ao vivo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1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Dividir o trabalho: 8 pessoas, 5 frentes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685800" y="1600200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 pessoas na mesma tela = 1 trabalhando e 7 opinando.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685800" y="2286000"/>
            <a:ext cx="1965960" cy="2377440"/>
          </a:xfrm>
          <a:prstGeom prst="roundRect">
            <a:avLst>
              <a:gd fmla="val 418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685800" y="26060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868680" y="36118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protótipo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2898648" y="2286000"/>
            <a:ext cx="1965960" cy="2377440"/>
          </a:xfrm>
          <a:prstGeom prst="roundRect">
            <a:avLst>
              <a:gd fmla="val 418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2898648" y="26060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3081528" y="36118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nos dados e na conta da 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5111496" y="2286000"/>
            <a:ext cx="1965960" cy="2377440"/>
          </a:xfrm>
          <a:prstGeom prst="roundRect">
            <a:avLst>
              <a:gd fmla="val 418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5111496" y="26060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5294376" y="36118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pitch e no deck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7324344" y="2286000"/>
            <a:ext cx="1965960" cy="2377440"/>
          </a:xfrm>
          <a:prstGeom prst="roundRect">
            <a:avLst>
              <a:gd fmla="val 4186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7324344" y="26060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7507224" y="36118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ensaio e no cronômetro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9537192" y="2286000"/>
            <a:ext cx="1965960" cy="2377440"/>
          </a:xfrm>
          <a:prstGeom prst="roundRect">
            <a:avLst>
              <a:gd fmla="val 4186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9537192" y="260604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9720072" y="36118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coordenando e testando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685800" y="5120640"/>
            <a:ext cx="10817352" cy="685800"/>
          </a:xfrm>
          <a:prstGeom prst="roundRect">
            <a:avLst>
              <a:gd fmla="val 10667" name="adj"/>
            </a:avLst>
          </a:prstGeom>
          <a:solidFill>
            <a:srgbClr val="E8D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960120" y="5120640"/>
            <a:ext cx="10268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Pitch e protótipo começam JUNTOS na sexta à noite: o envio é até sábado, 17h.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IA NO HACKATHON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Arsenal enxuto: 2 usos e 1 fronteira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685800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960120" y="2240280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PENSAR E ESTRUTURAR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960120" y="29260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Claude / ChatGPT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960120" y="374904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Ideação, estruturar o BMC, escrever o pitch, montar a conta da dor.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4384548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4658868" y="2240280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PESQUISAR COM FONTE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4658868" y="29260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Perplexity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4658868" y="374904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Benchmark, dados públicos (IBGE / CAGED, citados no edital), preços de referência pra conta da dor.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8083296" y="1965960"/>
            <a:ext cx="3419856" cy="3291840"/>
          </a:xfrm>
          <a:prstGeom prst="roundRect">
            <a:avLst>
              <a:gd fmla="val 2500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/>
          <p:cNvSpPr/>
          <p:nvPr/>
        </p:nvSpPr>
        <p:spPr>
          <a:xfrm>
            <a:off x="8357616" y="2240280"/>
            <a:ext cx="2871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6A1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96A14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8357616" y="2926080"/>
            <a:ext cx="2871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Bloco do Matheus, 21:10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8357616" y="3749040"/>
            <a:ext cx="28712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Dá pra construir sem programar, e ele prova daqui a pouco.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IA NO HACKATHON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Boas práticas e armadilhas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685800" y="2176272"/>
            <a:ext cx="502920" cy="502920"/>
          </a:xfrm>
          <a:prstGeom prst="ellipse">
            <a:avLst/>
          </a:prstGeom>
          <a:solidFill>
            <a:srgbClr val="2C7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685800" y="2157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1554480" y="2103120"/>
            <a:ext cx="9948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Fazer: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brainstorm, rascunho, estrutura, revisão.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685800" y="3410712"/>
            <a:ext cx="502920" cy="502920"/>
          </a:xfrm>
          <a:prstGeom prst="ellipse">
            <a:avLst/>
          </a:prstGeom>
          <a:solidFill>
            <a:srgbClr val="D96A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685800" y="33924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1554480" y="3337560"/>
            <a:ext cx="9948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Atenção: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alucinação: todo número que a IA der pra conta da dor precisa de fonte, ou vira “estimativa nossa” declarada.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685800" y="4645152"/>
            <a:ext cx="502920" cy="502920"/>
          </a:xfrm>
          <a:prstGeom prst="ellipse">
            <a:avLst/>
          </a:prstGeom>
          <a:solidFill>
            <a:srgbClr val="B444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3"/>
          <p:cNvSpPr/>
          <p:nvPr/>
        </p:nvSpPr>
        <p:spPr>
          <a:xfrm>
            <a:off x="685800" y="46268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1554480" y="4572000"/>
            <a:ext cx="9948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Evitar: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colar resposta genérica no canvas. A solução tem que ser de VOCÊS, e a banca fareja texto de robô em 10 segundos.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/>
          <p:nvPr/>
        </p:nvSpPr>
        <p:spPr>
          <a:xfrm>
            <a:off x="11475720" y="-685800"/>
            <a:ext cx="1554480" cy="155448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-868680" y="6263640"/>
            <a:ext cx="1371600" cy="1371600"/>
          </a:xfrm>
          <a:prstGeom prst="ellipse">
            <a:avLst/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4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79FC0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IA NO HACKATHON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Kit de Sobrevivência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685800" y="1965960"/>
            <a:ext cx="2523744" cy="3200400"/>
          </a:xfrm>
          <a:prstGeom prst="roundRect">
            <a:avLst>
              <a:gd fmla="val 3261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4"/>
          <p:cNvSpPr/>
          <p:nvPr/>
        </p:nvSpPr>
        <p:spPr>
          <a:xfrm>
            <a:off x="941832" y="22219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941832" y="28346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Espinha do kit em 1 página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/>
          <p:nvPr/>
        </p:nvSpPr>
        <p:spPr>
          <a:xfrm>
            <a:off x="941832" y="379476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5 folhas obrigatórias e a ordem entre elas.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3447288" y="1965960"/>
            <a:ext cx="2523744" cy="3200400"/>
          </a:xfrm>
          <a:prstGeom prst="roundRect">
            <a:avLst>
              <a:gd fmla="val 3261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3703320" y="22219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3703320" y="28346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8 prompts copia-e-cola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3703320" y="379476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Entrevista simulada, ideação da dor, 5 Porquês, BMC, conta da dor, corte de MVP, esqueleto de pitch.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6208776" y="1965960"/>
            <a:ext cx="2523744" cy="3200400"/>
          </a:xfrm>
          <a:prstGeom prst="roundRect">
            <a:avLst>
              <a:gd fmla="val 3261" name="adj"/>
            </a:avLst>
          </a:prstGeom>
          <a:solidFill>
            <a:srgbClr val="F3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6464808" y="22219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6464808" y="28346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Template da conta da dor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6464808" y="379476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Frequência × custo × tempo, pronto pra preencher.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8970264" y="1965960"/>
            <a:ext cx="2523744" cy="3200400"/>
          </a:xfrm>
          <a:prstGeom prst="roundRect">
            <a:avLst>
              <a:gd fmla="val 3261" name="adj"/>
            </a:avLst>
          </a:prstGeom>
          <a:solidFill>
            <a:srgbClr val="FFF1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9226296" y="22219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9226296" y="28346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Chega hoje à noite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9226296" y="379476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grupo de WhatsApp do evento, criado na abertura.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5"/>
          <p:cNvSpPr/>
          <p:nvPr/>
        </p:nvSpPr>
        <p:spPr>
          <a:xfrm>
            <a:off x="-1188720" y="-1371600"/>
            <a:ext cx="3108960" cy="3108960"/>
          </a:xfrm>
          <a:prstGeom prst="ellipse">
            <a:avLst/>
          </a:prstGeom>
          <a:solidFill>
            <a:srgbClr val="7C3AED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10698480" y="5394960"/>
            <a:ext cx="2468880" cy="2468880"/>
          </a:xfrm>
          <a:prstGeom prst="ellipse">
            <a:avLst/>
          </a:prstGeom>
          <a:solidFill>
            <a:srgbClr val="EC489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11064240" y="-457200"/>
            <a:ext cx="1097280" cy="1097280"/>
          </a:xfrm>
          <a:prstGeom prst="ellipse">
            <a:avLst/>
          </a:prstGeom>
          <a:solidFill>
            <a:srgbClr val="FB923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685800" y="566928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685800" y="868680"/>
            <a:ext cx="10817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contrato da noite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685800" y="2103120"/>
            <a:ext cx="420624" cy="42062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5"/>
          <p:cNvSpPr/>
          <p:nvPr/>
        </p:nvSpPr>
        <p:spPr>
          <a:xfrm>
            <a:off x="685800" y="20894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1417320" y="2057400"/>
            <a:ext cx="10085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jogo real são 19 horas, e o kit é o GPS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685800" y="2880360"/>
            <a:ext cx="420624" cy="42062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685800" y="28666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1417320" y="2834640"/>
            <a:ext cx="10085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liberada + material declarado = ninguém aqui “não sabe programar”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685800" y="3657600"/>
            <a:ext cx="420624" cy="42062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685800" y="364388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1417320" y="3611880"/>
            <a:ext cx="10085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Dor com CONTA = 25% da nota que os outros grupos vão desperdiçar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685800" y="4434840"/>
            <a:ext cx="420624" cy="42062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685800" y="44211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1417320" y="4389120"/>
            <a:ext cx="10085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BMC discutido em pé, não preenchido em silêncio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685800" y="5212080"/>
            <a:ext cx="420624" cy="42062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685800" y="51983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16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B16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1417320" y="5166360"/>
            <a:ext cx="10085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 é o que fica de FORA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70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6"/>
          <p:cNvSpPr/>
          <p:nvPr/>
        </p:nvSpPr>
        <p:spPr>
          <a:xfrm>
            <a:off x="-1188720" y="-1371600"/>
            <a:ext cx="3108960" cy="3108960"/>
          </a:xfrm>
          <a:prstGeom prst="ellipse">
            <a:avLst/>
          </a:prstGeom>
          <a:solidFill>
            <a:srgbClr val="7C3AED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"/>
          <p:cNvSpPr/>
          <p:nvPr/>
        </p:nvSpPr>
        <p:spPr>
          <a:xfrm>
            <a:off x="10698480" y="5394960"/>
            <a:ext cx="2468880" cy="2468880"/>
          </a:xfrm>
          <a:prstGeom prst="ellipse">
            <a:avLst/>
          </a:prstGeom>
          <a:solidFill>
            <a:srgbClr val="EC4899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6"/>
          <p:cNvSpPr/>
          <p:nvPr/>
        </p:nvSpPr>
        <p:spPr>
          <a:xfrm>
            <a:off x="11064240" y="-457200"/>
            <a:ext cx="1097280" cy="1097280"/>
          </a:xfrm>
          <a:prstGeom prst="ellipse">
            <a:avLst/>
          </a:prstGeom>
          <a:solidFill>
            <a:srgbClr val="FB923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6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FLUMISUL  ·  HACKATHON BARRA MANSA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685800" y="1737360"/>
            <a:ext cx="10817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AMANHÃ, 19:00  ·  PRIMEIRA AÇÃO DO GRUPO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685800" y="2103120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NÃO abram o notebook.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685800" y="315468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8CCF5"/>
                </a:solidFill>
                <a:latin typeface="Arial"/>
                <a:ea typeface="Arial"/>
                <a:cs typeface="Arial"/>
                <a:sym typeface="Arial"/>
              </a:rPr>
              <a:t>Peguem o Roteiro de Entrevista do kit e entrevistem quem vive o problema: gente da indústria no próprio grupo, um contato de vocês, um mentor no papel de operador ou, de madrugada, a persona de IA (15 minutos).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685800" y="4343400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Depois disso, sim:  5 Porquês  →  Canvas  →  mãos à obra.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2026-08-13T19:30:03Z</dcterms:created>
  <dc:creator>PptxGenJS</dc:creator>
</cp:coreProperties>
</file>